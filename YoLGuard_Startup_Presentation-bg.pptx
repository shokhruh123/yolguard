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Yo‘lGuard AI" id="{16029cdc-53dd-16eb-770e-98035ce46f9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мысль: проблема не в самой регистрации. Водитель сам ничего не регистрирует — он ждёт, пока приедет полицейский (условно ~40 минут). Всё это время машины стоят на полосе: пробка и риск повторных ДТП. 40 минут — оценка, так и говорим.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Живое демо: SOS → фото → разбор ИИ → вердикт. Подчеркни: подтверждает человек. Водитель оформляет на месте и освобождает полосу, наряд едет только на тяжёлые случаи.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Приложение — Android APK (обёртка над PWA) и веб-версия. Триаж работает по жёстким правилам, не через ИИ. Офлайн-очередь хранится на телефоне.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запускается автоматически, без лишних кнопок, и занимает около 15–30 секунд (проверено вживую). В модель уходят только фото. Нет ключа или сети — срабатывает резервная эвристика.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Сотрудник работает только в десктоп-панели — в телефоне и вебе интерфейса сотрудника нет. Две кнопки: «Зарегистрировано» и «Выезжаем». Текст приходит водителю.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Модульный монолит: один сервис, одна версия API. Один и тот же фронтенд — в вебе и в APK. MongoDB строго опциональна: без неё всё работает на SQL. Файлы отдаются только по токену.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Стек намеренно простой: без сборки фронтенда, без Docker. Схема БД совместима с PostgreSQL.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Секреты хранятся только в .env, который не попадает в репозиторий. Страховщик имеет доступ только на чтение. Решение по делу всегда подтверждает человек.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 цифры, которые можно проверить: 45 автотестов, четыре выпущенных версии APK, живой разбор Gemini по фото. Только честные цифры.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Цифры только честные: ~40 минут — оценка текущего ожидания, «минуты» — цель, которую проверит пилот. Метрика — время до освобождения полосы.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B2G-модель: начинаем с одного района, затем расширяемся. Страховщик получает пакет только на чтение.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дальше и что просим. Конкретно: пилот, распознавание номеров и оценка ущерба; для запуска — PostgreSQL, облачное хранилище, TLS. От менторов — экспертиза ГАИ и страховых и грант на пилот.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Дальше вопросы: отвечай коротко и честно, «не знаем» — нормально.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Yo‘lGuard AI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097280"/>
            <a:ext cx="73152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bg1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Ждём наряд — стоим в пробке</a:t>
            </a:r>
            <a:endParaRPr lang="en-US" sz="3600" dirty="0"/>
          </a:p>
        </p:txBody>
      </p:sp>
      <p:sp>
        <p:nvSpPr>
          <p:cNvPr id="3" name="Stat card"/>
          <p:cNvSpPr/>
          <p:nvPr/>
        </p:nvSpPr>
        <p:spPr>
          <a:xfrm>
            <a:off x="548640" y="1280160"/>
            <a:ext cx="3200400" cy="283464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1"/>
                </a:solidFill>
              </a:rPr>
              <a:t>ВОДИТЕЛЬ ЖДЁТ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chemeClr val="tx1"/>
                </a:solidFill>
              </a:rPr>
              <a:t>~40</a:t>
            </a:r>
            <a:endParaRPr lang="en-US" sz="8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минут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наряд ДПС, чтобы зарегистрировать ДТП (оценка)</a:t>
            </a:r>
            <a:endParaRPr lang="en-US" sz="1400" dirty="0"/>
          </a:p>
        </p:txBody>
      </p:sp>
      <p:sp>
        <p:nvSpPr>
          <p:cNvPr id="8" name="Step card 1"/>
          <p:cNvSpPr/>
          <p:nvPr/>
        </p:nvSpPr>
        <p:spPr>
          <a:xfrm>
            <a:off x="4023360" y="1280160"/>
            <a:ext cx="45720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9" name="Step number 1"/>
          <p:cNvSpPr/>
          <p:nvPr/>
        </p:nvSpPr>
        <p:spPr>
          <a:xfrm>
            <a:off x="4160520" y="13716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605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ДТП на дороге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627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Водитель сам ничего не регистрирует</a:t>
            </a:r>
            <a:endParaRPr lang="en-US" sz="1400" dirty="0"/>
          </a:p>
        </p:txBody>
      </p:sp>
      <p:sp>
        <p:nvSpPr>
          <p:cNvPr id="13" name="Step card 2"/>
          <p:cNvSpPr/>
          <p:nvPr/>
        </p:nvSpPr>
        <p:spPr>
          <a:xfrm>
            <a:off x="4023360" y="2011680"/>
            <a:ext cx="45720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4" name="Step number 2"/>
          <p:cNvSpPr/>
          <p:nvPr/>
        </p:nvSpPr>
        <p:spPr>
          <a:xfrm>
            <a:off x="4160520" y="210312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605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2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084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Ждём наряд ~40 минут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359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Без полицейского оформить нельзя</a:t>
            </a:r>
            <a:endParaRPr lang="en-US" sz="1400" dirty="0"/>
          </a:p>
        </p:txBody>
      </p:sp>
      <p:sp>
        <p:nvSpPr>
          <p:cNvPr id="18" name="Step card 3"/>
          <p:cNvSpPr/>
          <p:nvPr/>
        </p:nvSpPr>
        <p:spPr>
          <a:xfrm>
            <a:off x="4023360" y="2743200"/>
            <a:ext cx="45720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9" name="Step number 3"/>
          <p:cNvSpPr/>
          <p:nvPr/>
        </p:nvSpPr>
        <p:spPr>
          <a:xfrm>
            <a:off x="4160520" y="283464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1605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3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2816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Машины стоят на полосе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0906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Движение сужается или встаёт</a:t>
            </a:r>
            <a:endParaRPr lang="en-US" sz="1400" dirty="0"/>
          </a:p>
        </p:txBody>
      </p:sp>
      <p:sp>
        <p:nvSpPr>
          <p:cNvPr id="23" name="Step card 4"/>
          <p:cNvSpPr/>
          <p:nvPr/>
        </p:nvSpPr>
        <p:spPr>
          <a:xfrm>
            <a:off x="4023360" y="3474720"/>
            <a:ext cx="45720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24" name="Step number 4"/>
          <p:cNvSpPr/>
          <p:nvPr/>
        </p:nvSpPr>
        <p:spPr>
          <a:xfrm>
            <a:off x="4160520" y="356616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16052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4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3547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Пробка и риск новых ДТП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3822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Затор растёт с каждой минутой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Проблема не в регистрации, а в ожидании наряда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bg2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Решение: не ждать наряд</a:t>
            </a:r>
            <a:endParaRPr lang="en-US" sz="3600" dirty="0"/>
          </a:p>
        </p:txBody>
      </p:sp>
      <p:sp>
        <p:nvSpPr>
          <p:cNvPr id="3" name="Step card 1"/>
          <p:cNvSpPr/>
          <p:nvPr/>
        </p:nvSpPr>
        <p:spPr>
          <a:xfrm>
            <a:off x="548640" y="1280160"/>
            <a:ext cx="1828800" cy="24231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Step number 1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Фото на месте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974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Водитель снимает ДТП и жмёт SOS</a:t>
            </a:r>
            <a:endParaRPr lang="en-US" sz="1400" dirty="0"/>
          </a:p>
        </p:txBody>
      </p:sp>
      <p:sp>
        <p:nvSpPr>
          <p:cNvPr id="8" name="Step card 2"/>
          <p:cNvSpPr/>
          <p:nvPr/>
        </p:nvSpPr>
        <p:spPr>
          <a:xfrm>
            <a:off x="2621585" y="1280160"/>
            <a:ext cx="1828800" cy="24231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Step number 2"/>
          <p:cNvSpPr/>
          <p:nvPr/>
        </p:nvSpPr>
        <p:spPr>
          <a:xfrm>
            <a:off x="2804465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04465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804465" y="2103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ИИ разбирает сам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804465" y="26974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Номера, тяжесть, схема дороги</a:t>
            </a:r>
            <a:endParaRPr lang="en-US" sz="1400" dirty="0"/>
          </a:p>
        </p:txBody>
      </p:sp>
      <p:sp>
        <p:nvSpPr>
          <p:cNvPr id="13" name="Step card 3"/>
          <p:cNvSpPr/>
          <p:nvPr/>
        </p:nvSpPr>
        <p:spPr>
          <a:xfrm>
            <a:off x="4694530" y="1280160"/>
            <a:ext cx="1828800" cy="24231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Step number 3"/>
          <p:cNvSpPr/>
          <p:nvPr/>
        </p:nvSpPr>
        <p:spPr>
          <a:xfrm>
            <a:off x="487741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7741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877410" y="2103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Решает сотрудник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77410" y="26974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Досье и два нажатия, без выезда</a:t>
            </a:r>
            <a:endParaRPr lang="en-US" sz="1400" dirty="0"/>
          </a:p>
        </p:txBody>
      </p:sp>
      <p:sp>
        <p:nvSpPr>
          <p:cNvPr id="18" name="Step card 4"/>
          <p:cNvSpPr/>
          <p:nvPr/>
        </p:nvSpPr>
        <p:spPr>
          <a:xfrm>
            <a:off x="6767474" y="1280160"/>
            <a:ext cx="1828800" cy="24231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Step number 4"/>
          <p:cNvSpPr/>
          <p:nvPr/>
        </p:nvSpPr>
        <p:spPr>
          <a:xfrm>
            <a:off x="6950354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5035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4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950354" y="2103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Полоса свободна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50354" y="26974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Вердикт приходит водителю</a:t>
            </a:r>
            <a:endParaRPr lang="en-US" sz="1400" dirty="0"/>
          </a:p>
        </p:txBody>
      </p:sp>
      <p:sp>
        <p:nvSpPr>
          <p:cNvPr id="23" name="Principle banner"/>
          <p:cNvSpPr/>
          <p:nvPr/>
        </p:nvSpPr>
        <p:spPr>
          <a:xfrm>
            <a:off x="548640" y="3886200"/>
            <a:ext cx="8046720" cy="64008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3886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Решение принимает человек, а не ИИ. Наряд выезжает только на тяжёлые случаи.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bg3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Что видит водитель</a:t>
            </a:r>
            <a:endParaRPr lang="en-US" sz="3600" dirty="0"/>
          </a:p>
        </p:txBody>
      </p:sp>
      <p:sp>
        <p:nvSpPr>
          <p:cNvPr id="3" name="Screen card 1"/>
          <p:cNvSpPr/>
          <p:nvPr/>
        </p:nvSpPr>
        <p:spPr>
          <a:xfrm>
            <a:off x="548640" y="1280160"/>
            <a:ext cx="256032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/>
        </p:spPr>
      </p:sp>
      <p:sp>
        <p:nvSpPr>
          <p:cNvPr id="4" name="Screen number 1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SOS и триаж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146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Короткие вопросы определяют случай: зелёный, жёлтый или красный. Красный — у сотрудника, ждём письма.</a:t>
            </a:r>
            <a:endParaRPr lang="en-US" sz="1400" dirty="0"/>
          </a:p>
        </p:txBody>
      </p:sp>
      <p:sp>
        <p:nvSpPr>
          <p:cNvPr id="8" name="Screen card 2"/>
          <p:cNvSpPr/>
          <p:nvPr/>
        </p:nvSpPr>
        <p:spPr>
          <a:xfrm>
            <a:off x="3291840" y="1280160"/>
            <a:ext cx="256032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/>
        </p:spPr>
      </p:sp>
      <p:sp>
        <p:nvSpPr>
          <p:cNvPr id="9" name="Screen number 2"/>
          <p:cNvSpPr/>
          <p:nvPr/>
        </p:nvSpPr>
        <p:spPr>
          <a:xfrm>
            <a:off x="347472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Фиксация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5146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Шесть видов фото, видео сцены и голосовая заметка. Приложение предупредит о тёмном, размытом кадре или дубле.</a:t>
            </a:r>
            <a:endParaRPr lang="en-US" sz="1400" dirty="0"/>
          </a:p>
        </p:txBody>
      </p:sp>
      <p:sp>
        <p:nvSpPr>
          <p:cNvPr id="13" name="Screen card 3"/>
          <p:cNvSpPr/>
          <p:nvPr/>
        </p:nvSpPr>
        <p:spPr>
          <a:xfrm>
            <a:off x="6035040" y="1280160"/>
            <a:ext cx="256032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/>
        </p:spPr>
      </p:sp>
      <p:sp>
        <p:nvSpPr>
          <p:cNvPr id="14" name="Screen number 3"/>
          <p:cNvSpPr/>
          <p:nvPr/>
        </p:nvSpPr>
        <p:spPr>
          <a:xfrm>
            <a:off x="621792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Ответ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5146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Схема дороги, разбор, номера и тяжесть от ИИ. Затем решение сотрудника текстом.</a:t>
            </a:r>
            <a:endParaRPr lang="en-US" sz="1400" dirty="0"/>
          </a:p>
        </p:txBody>
      </p:sp>
      <p:sp>
        <p:nvSpPr>
          <p:cNvPr id="18" name="Offline banner"/>
          <p:cNvSpPr/>
          <p:nvPr/>
        </p:nvSpPr>
        <p:spPr>
          <a:xfrm>
            <a:off x="548640" y="3931920"/>
            <a:ext cx="8046720" cy="594360"/>
          </a:xfrm>
          <a:prstGeom prst="roundRect">
            <a:avLst>
              <a:gd name="adj" fmla="val 15385"/>
            </a:avLst>
          </a:prstGeom>
          <a:solidFill>
            <a:schemeClr val="accent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39319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Работает без сети: фото и сообщения уходят, когда связь вернётся. Языки: ru, uz, 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bg4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ИИ разбирает сам</a:t>
            </a:r>
            <a:endParaRPr lang="en-US" sz="3600" dirty="0"/>
          </a:p>
        </p:txBody>
      </p:sp>
      <p:sp>
        <p:nvSpPr>
          <p:cNvPr id="3" name="Input card"/>
          <p:cNvSpPr/>
          <p:nvPr/>
        </p:nvSpPr>
        <p:spPr>
          <a:xfrm>
            <a:off x="548640" y="1280160"/>
            <a:ext cx="338328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На входе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Набор из 6 видов фото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Сжатие до 1600 px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GPS из данных снимка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Видео и голос — в архив</a:t>
            </a:r>
            <a:endParaRPr lang="en-US" sz="1400" dirty="0"/>
          </a:p>
        </p:txBody>
      </p:sp>
      <p:sp>
        <p:nvSpPr>
          <p:cNvPr id="6" name="Flow arrow"/>
          <p:cNvSpPr/>
          <p:nvPr/>
        </p:nvSpPr>
        <p:spPr>
          <a:xfrm>
            <a:off x="4069080" y="2148840"/>
            <a:ext cx="1005840" cy="5029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069080" y="2697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Gemini</a:t>
            </a:r>
            <a:endParaRPr lang="en-US" sz="1400" dirty="0"/>
          </a:p>
        </p:txBody>
      </p:sp>
      <p:sp>
        <p:nvSpPr>
          <p:cNvPr id="8" name="Output card"/>
          <p:cNvSpPr/>
          <p:nvPr/>
        </p:nvSpPr>
        <p:spPr>
          <a:xfrm>
            <a:off x="5212080" y="1280160"/>
            <a:ext cx="338328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40680" y="1417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На выходе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8745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Описание случая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Номера автомобилей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Тяжесть повреждений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Схема дороги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Заметка о пострадавших</a:t>
            </a:r>
            <a:endParaRPr lang="en-US" sz="1400" dirty="0"/>
          </a:p>
        </p:txBody>
      </p:sp>
      <p:sp>
        <p:nvSpPr>
          <p:cNvPr id="11" name="Fact card 1"/>
          <p:cNvSpPr/>
          <p:nvPr/>
        </p:nvSpPr>
        <p:spPr>
          <a:xfrm>
            <a:off x="548640" y="3611880"/>
            <a:ext cx="2560320" cy="91440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703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15–30 сек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на разбор по фото</a:t>
            </a:r>
            <a:endParaRPr lang="en-US" sz="1400" dirty="0"/>
          </a:p>
        </p:txBody>
      </p:sp>
      <p:sp>
        <p:nvSpPr>
          <p:cNvPr id="14" name="Fact card 2"/>
          <p:cNvSpPr/>
          <p:nvPr/>
        </p:nvSpPr>
        <p:spPr>
          <a:xfrm>
            <a:off x="3291840" y="3611880"/>
            <a:ext cx="2560320" cy="91440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74720" y="3703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Резерв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работает без ИИ-ключа</a:t>
            </a:r>
            <a:endParaRPr lang="en-US" sz="1400" dirty="0"/>
          </a:p>
        </p:txBody>
      </p:sp>
      <p:sp>
        <p:nvSpPr>
          <p:cNvPr id="17" name="Fact card 3"/>
          <p:cNvSpPr/>
          <p:nvPr/>
        </p:nvSpPr>
        <p:spPr>
          <a:xfrm>
            <a:off x="6035040" y="3611880"/>
            <a:ext cx="2560320" cy="91440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17920" y="3703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Правила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триаж без нейросети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bg5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Сотрудник: два нажатия</a:t>
            </a:r>
            <a:endParaRPr lang="en-US" sz="3600" dirty="0"/>
          </a:p>
        </p:txBody>
      </p:sp>
      <p:sp>
        <p:nvSpPr>
          <p:cNvPr id="3" name="Panel card"/>
          <p:cNvSpPr/>
          <p:nvPr/>
        </p:nvSpPr>
        <p:spPr>
          <a:xfrm>
            <a:off x="548640" y="1280160"/>
            <a:ext cx="420624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Панель на компьютере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Досье происшествия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Фото и разбор ИИ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Схема дороги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Пакет для страховой с sha256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Отказ — только с комментарием</a:t>
            </a:r>
            <a:endParaRPr lang="en-US" sz="1600" dirty="0"/>
          </a:p>
        </p:txBody>
      </p:sp>
      <p:sp>
        <p:nvSpPr>
          <p:cNvPr id="6" name="Button registered"/>
          <p:cNvSpPr/>
          <p:nvPr/>
        </p:nvSpPr>
        <p:spPr>
          <a:xfrm>
            <a:off x="5029200" y="1280160"/>
            <a:ext cx="35661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0" y="12801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Зарегистрировано</a:t>
            </a:r>
            <a:endParaRPr lang="en-US" sz="2000" dirty="0"/>
          </a:p>
        </p:txBody>
      </p:sp>
      <p:sp>
        <p:nvSpPr>
          <p:cNvPr id="8" name="Button on the way"/>
          <p:cNvSpPr/>
          <p:nvPr/>
        </p:nvSpPr>
        <p:spPr>
          <a:xfrm>
            <a:off x="5029200" y="2240280"/>
            <a:ext cx="3566160" cy="822960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0" y="22402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Выезжаем</a:t>
            </a:r>
            <a:endParaRPr lang="en-US" sz="2000" dirty="0"/>
          </a:p>
        </p:txBody>
      </p:sp>
      <p:sp>
        <p:nvSpPr>
          <p:cNvPr id="10" name="Driver replies card"/>
          <p:cNvSpPr/>
          <p:nvPr/>
        </p:nvSpPr>
        <p:spPr>
          <a:xfrm>
            <a:off x="5029200" y="3200400"/>
            <a:ext cx="356616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57800" y="33101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Водитель отвечает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36301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«Понял, жду» или «Нужна помощь». Подтверждение второго водителя не нужно.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bg6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Архитектура</a:t>
            </a:r>
            <a:endParaRPr lang="en-US" sz="3600" dirty="0"/>
          </a:p>
        </p:txBody>
      </p:sp>
      <p:sp>
        <p:nvSpPr>
          <p:cNvPr id="3" name="Client Android-приложение"/>
          <p:cNvSpPr/>
          <p:nvPr/>
        </p:nvSpPr>
        <p:spPr>
          <a:xfrm>
            <a:off x="548640" y="1280160"/>
            <a:ext cx="237744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Android-приложение</a:t>
            </a:r>
            <a:endParaRPr lang="en-US" sz="1500" dirty="0"/>
          </a:p>
        </p:txBody>
      </p:sp>
      <p:sp>
        <p:nvSpPr>
          <p:cNvPr id="5" name="Arrow client 1"/>
          <p:cNvSpPr/>
          <p:nvPr/>
        </p:nvSpPr>
        <p:spPr>
          <a:xfrm>
            <a:off x="1737360" y="1965960"/>
            <a:ext cx="0" cy="45720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" name="Client Веб-версия (PWA)"/>
          <p:cNvSpPr/>
          <p:nvPr/>
        </p:nvSpPr>
        <p:spPr>
          <a:xfrm>
            <a:off x="3383280" y="1280160"/>
            <a:ext cx="237744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383280" y="12801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Веб-версия (PWA)</a:t>
            </a:r>
            <a:endParaRPr lang="en-US" sz="1500" dirty="0"/>
          </a:p>
        </p:txBody>
      </p:sp>
      <p:sp>
        <p:nvSpPr>
          <p:cNvPr id="8" name="Arrow client 2"/>
          <p:cNvSpPr/>
          <p:nvPr/>
        </p:nvSpPr>
        <p:spPr>
          <a:xfrm>
            <a:off x="4572000" y="1965960"/>
            <a:ext cx="0" cy="45720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Client Панель сотрудника"/>
          <p:cNvSpPr/>
          <p:nvPr/>
        </p:nvSpPr>
        <p:spPr>
          <a:xfrm>
            <a:off x="6217920" y="1280160"/>
            <a:ext cx="237744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2801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Панель сотрудника</a:t>
            </a:r>
            <a:endParaRPr lang="en-US" sz="1500" dirty="0"/>
          </a:p>
        </p:txBody>
      </p:sp>
      <p:sp>
        <p:nvSpPr>
          <p:cNvPr id="11" name="Arrow client 3"/>
          <p:cNvSpPr/>
          <p:nvPr/>
        </p:nvSpPr>
        <p:spPr>
          <a:xfrm>
            <a:off x="7406640" y="1965960"/>
            <a:ext cx="0" cy="45720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API card"/>
          <p:cNvSpPr/>
          <p:nvPr/>
        </p:nvSpPr>
        <p:spPr>
          <a:xfrm>
            <a:off x="548640" y="2423160"/>
            <a:ext cx="8046720" cy="777240"/>
          </a:xfrm>
          <a:prstGeom prst="roundRect">
            <a:avLst>
              <a:gd name="adj" fmla="val 11765"/>
            </a:avLst>
          </a:prstGeom>
          <a:solidFill>
            <a:schemeClr val="tx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24871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FastAPI /api/v1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28346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вход и роли · происшествия · правила триажа · панель · уведомления</a:t>
            </a:r>
            <a:endParaRPr lang="en-US" sz="1400" dirty="0"/>
          </a:p>
        </p:txBody>
      </p:sp>
      <p:sp>
        <p:nvSpPr>
          <p:cNvPr id="15" name="Arrow store 1"/>
          <p:cNvSpPr/>
          <p:nvPr/>
        </p:nvSpPr>
        <p:spPr>
          <a:xfrm>
            <a:off x="1463040" y="3200400"/>
            <a:ext cx="0" cy="41148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Store SQL"/>
          <p:cNvSpPr/>
          <p:nvPr/>
        </p:nvSpPr>
        <p:spPr>
          <a:xfrm>
            <a:off x="548640" y="3611880"/>
            <a:ext cx="18288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SQL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0416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источник истины</a:t>
            </a:r>
            <a:endParaRPr lang="en-US" sz="1200" dirty="0"/>
          </a:p>
        </p:txBody>
      </p:sp>
      <p:sp>
        <p:nvSpPr>
          <p:cNvPr id="19" name="Arrow store 2"/>
          <p:cNvSpPr/>
          <p:nvPr/>
        </p:nvSpPr>
        <p:spPr>
          <a:xfrm>
            <a:off x="3535985" y="3200400"/>
            <a:ext cx="0" cy="41148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0" name="Store MongoDB"/>
          <p:cNvSpPr/>
          <p:nvPr/>
        </p:nvSpPr>
        <p:spPr>
          <a:xfrm>
            <a:off x="2621585" y="3611880"/>
            <a:ext cx="18288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758745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MongoDB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2713025" y="40416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история ИИ, по желанию</a:t>
            </a:r>
            <a:endParaRPr lang="en-US" sz="1200" dirty="0"/>
          </a:p>
        </p:txBody>
      </p:sp>
      <p:sp>
        <p:nvSpPr>
          <p:cNvPr id="23" name="Arrow store 3"/>
          <p:cNvSpPr/>
          <p:nvPr/>
        </p:nvSpPr>
        <p:spPr>
          <a:xfrm>
            <a:off x="5608930" y="3200400"/>
            <a:ext cx="0" cy="41148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4" name="Store Файлы"/>
          <p:cNvSpPr/>
          <p:nvPr/>
        </p:nvSpPr>
        <p:spPr>
          <a:xfrm>
            <a:off x="4694530" y="3611880"/>
            <a:ext cx="18288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31690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Файлы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785970" y="40416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фото, видео, аудио</a:t>
            </a:r>
            <a:endParaRPr lang="en-US" sz="1200" dirty="0"/>
          </a:p>
        </p:txBody>
      </p:sp>
      <p:sp>
        <p:nvSpPr>
          <p:cNvPr id="27" name="Arrow store 4"/>
          <p:cNvSpPr/>
          <p:nvPr/>
        </p:nvSpPr>
        <p:spPr>
          <a:xfrm>
            <a:off x="7681874" y="3200400"/>
            <a:ext cx="0" cy="41148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8" name="Store Gemini"/>
          <p:cNvSpPr/>
          <p:nvPr/>
        </p:nvSpPr>
        <p:spPr>
          <a:xfrm>
            <a:off x="6767474" y="3611880"/>
            <a:ext cx="182880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904634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Gemini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858914" y="40416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разбор фото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bg7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Технологии</a:t>
            </a:r>
            <a:endParaRPr lang="en-US" sz="3600" dirty="0"/>
          </a:p>
        </p:txBody>
      </p:sp>
      <p:sp>
        <p:nvSpPr>
          <p:cNvPr id="3" name="Tech card СЕРВЕР"/>
          <p:cNvSpPr/>
          <p:nvPr/>
        </p:nvSpPr>
        <p:spPr>
          <a:xfrm>
            <a:off x="548640" y="128016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447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СЕРВЕР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FastAPI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Pydantic, SQLAlchemy</a:t>
            </a:r>
            <a:endParaRPr lang="en-US" sz="1400" dirty="0"/>
          </a:p>
        </p:txBody>
      </p:sp>
      <p:sp>
        <p:nvSpPr>
          <p:cNvPr id="7" name="Tech card ИИ"/>
          <p:cNvSpPr/>
          <p:nvPr/>
        </p:nvSpPr>
        <p:spPr>
          <a:xfrm>
            <a:off x="3291840" y="128016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4720" y="14447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ИИ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7373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Gemini Vision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цепочка моделей, резерв</a:t>
            </a:r>
            <a:endParaRPr lang="en-US" sz="1400" dirty="0"/>
          </a:p>
        </p:txBody>
      </p:sp>
      <p:sp>
        <p:nvSpPr>
          <p:cNvPr id="11" name="Tech card ДАННЫЕ"/>
          <p:cNvSpPr/>
          <p:nvPr/>
        </p:nvSpPr>
        <p:spPr>
          <a:xfrm>
            <a:off x="6035040" y="128016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0" y="14447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ДАННЫЕ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7373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SQLite → PostgreSQL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MongoDB — по желанию</a:t>
            </a:r>
            <a:endParaRPr lang="en-US" sz="1400" dirty="0"/>
          </a:p>
        </p:txBody>
      </p:sp>
      <p:sp>
        <p:nvSpPr>
          <p:cNvPr id="15" name="Tech card КЛИЕНТ"/>
          <p:cNvSpPr/>
          <p:nvPr/>
        </p:nvSpPr>
        <p:spPr>
          <a:xfrm>
            <a:off x="548640" y="292608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090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КЛИЕНТ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383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PWA на чистом JS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офлайн-очередь, ru / uz / en</a:t>
            </a:r>
            <a:endParaRPr lang="en-US" sz="1400" dirty="0"/>
          </a:p>
        </p:txBody>
      </p:sp>
      <p:sp>
        <p:nvSpPr>
          <p:cNvPr id="19" name="Tech card ANDROID"/>
          <p:cNvSpPr/>
          <p:nvPr/>
        </p:nvSpPr>
        <p:spPr>
          <a:xfrm>
            <a:off x="3291840" y="292608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474720" y="3090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ANDROID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3383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WebView-приложение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minSdk 24, Java 17</a:t>
            </a:r>
            <a:endParaRPr lang="en-US" sz="1400" dirty="0"/>
          </a:p>
        </p:txBody>
      </p:sp>
      <p:sp>
        <p:nvSpPr>
          <p:cNvPr id="23" name="Tech card ПАНЕЛЬ"/>
          <p:cNvSpPr/>
          <p:nvPr/>
        </p:nvSpPr>
        <p:spPr>
          <a:xfrm>
            <a:off x="6035040" y="292608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217920" y="3090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ПАНЕЛЬ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3383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Windows EXE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tkinter, PyInstaller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bg8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Безопасность и доверие</a:t>
            </a:r>
            <a:endParaRPr lang="en-US" sz="3600" dirty="0"/>
          </a:p>
        </p:txBody>
      </p:sp>
      <p:sp>
        <p:nvSpPr>
          <p:cNvPr id="3" name="Row Вход"/>
          <p:cNvSpPr/>
          <p:nvPr/>
        </p:nvSpPr>
        <p:spPr>
          <a:xfrm>
            <a:off x="548640" y="1280160"/>
            <a:ext cx="8046720" cy="438912"/>
          </a:xfrm>
          <a:prstGeom prst="roundRect">
            <a:avLst>
              <a:gd name="adj" fmla="val 2083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2801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Вход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834640" y="128016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PBKDF2 (200 тыс. итераций), JWT access и refresh</a:t>
            </a:r>
            <a:endParaRPr lang="en-US" sz="1400" dirty="0"/>
          </a:p>
        </p:txBody>
      </p:sp>
      <p:sp>
        <p:nvSpPr>
          <p:cNvPr id="6" name="Row Роли"/>
          <p:cNvSpPr/>
          <p:nvPr/>
        </p:nvSpPr>
        <p:spPr>
          <a:xfrm>
            <a:off x="548640" y="1810512"/>
            <a:ext cx="8046720" cy="438912"/>
          </a:xfrm>
          <a:prstGeom prst="roundRect">
            <a:avLst>
              <a:gd name="adj" fmla="val 20833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8105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Роли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810512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водитель, сотрудник, страховщик, админ</a:t>
            </a:r>
            <a:endParaRPr lang="en-US" sz="1400" dirty="0"/>
          </a:p>
        </p:txBody>
      </p:sp>
      <p:sp>
        <p:nvSpPr>
          <p:cNvPr id="9" name="Row Файлы"/>
          <p:cNvSpPr/>
          <p:nvPr/>
        </p:nvSpPr>
        <p:spPr>
          <a:xfrm>
            <a:off x="548640" y="2340864"/>
            <a:ext cx="8046720" cy="438912"/>
          </a:xfrm>
          <a:prstGeom prst="roundRect">
            <a:avLst>
              <a:gd name="adj" fmla="val 20833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34086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Файлы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340864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проверка по сигнатуре, лимиты размера</a:t>
            </a:r>
            <a:endParaRPr lang="en-US" sz="1400" dirty="0"/>
          </a:p>
        </p:txBody>
      </p:sp>
      <p:sp>
        <p:nvSpPr>
          <p:cNvPr id="12" name="Row Фото"/>
          <p:cNvSpPr/>
          <p:nvPr/>
        </p:nvSpPr>
        <p:spPr>
          <a:xfrm>
            <a:off x="548640" y="2871216"/>
            <a:ext cx="8046720" cy="438912"/>
          </a:xfrm>
          <a:prstGeom prst="roundRect">
            <a:avLst>
              <a:gd name="adj" fmla="val 20833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287121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Фото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2871216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видят только участники и сотрудники</a:t>
            </a:r>
            <a:endParaRPr lang="en-US" sz="1400" dirty="0"/>
          </a:p>
        </p:txBody>
      </p:sp>
      <p:sp>
        <p:nvSpPr>
          <p:cNvPr id="15" name="Row API"/>
          <p:cNvSpPr/>
          <p:nvPr/>
        </p:nvSpPr>
        <p:spPr>
          <a:xfrm>
            <a:off x="548640" y="3401568"/>
            <a:ext cx="8046720" cy="438912"/>
          </a:xfrm>
          <a:prstGeom prst="roundRect">
            <a:avLst>
              <a:gd name="adj" fmla="val 20833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40156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API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834640" y="3401568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лимит запросов, CORS без «*»</a:t>
            </a:r>
            <a:endParaRPr lang="en-US" sz="1400" dirty="0"/>
          </a:p>
        </p:txBody>
      </p:sp>
      <p:sp>
        <p:nvSpPr>
          <p:cNvPr id="18" name="Row Целостность"/>
          <p:cNvSpPr/>
          <p:nvPr/>
        </p:nvSpPr>
        <p:spPr>
          <a:xfrm>
            <a:off x="548640" y="3931920"/>
            <a:ext cx="8046720" cy="438912"/>
          </a:xfrm>
          <a:prstGeom prst="roundRect">
            <a:avLst>
              <a:gd name="adj" fmla="val 20833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39319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Целостность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2834640" y="393192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цепочка sha256 в пакете для страховой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bg9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MVP уже работает</a:t>
            </a:r>
            <a:endParaRPr lang="en-US" sz="3600" dirty="0"/>
          </a:p>
        </p:txBody>
      </p:sp>
      <p:sp>
        <p:nvSpPr>
          <p:cNvPr id="3" name="Stat 45 / 45"/>
          <p:cNvSpPr/>
          <p:nvPr/>
        </p:nvSpPr>
        <p:spPr>
          <a:xfrm>
            <a:off x="548640" y="1280160"/>
            <a:ext cx="384048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45 / 45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тестов проходят</a:t>
            </a:r>
            <a:endParaRPr lang="en-US" sz="1500" dirty="0"/>
          </a:p>
        </p:txBody>
      </p:sp>
      <p:sp>
        <p:nvSpPr>
          <p:cNvPr id="6" name="Stat v1.3"/>
          <p:cNvSpPr/>
          <p:nvPr/>
        </p:nvSpPr>
        <p:spPr>
          <a:xfrm>
            <a:off x="4754880" y="1280160"/>
            <a:ext cx="38404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0" y="14630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v1.3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2148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четыре версии APK</a:t>
            </a:r>
            <a:endParaRPr lang="en-US" sz="1500" dirty="0"/>
          </a:p>
        </p:txBody>
      </p:sp>
      <p:sp>
        <p:nvSpPr>
          <p:cNvPr id="9" name="Stat 15–30 сек"/>
          <p:cNvSpPr/>
          <p:nvPr/>
        </p:nvSpPr>
        <p:spPr>
          <a:xfrm>
            <a:off x="548640" y="2834640"/>
            <a:ext cx="38404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0175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15–30 сек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703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живой разбор по фото</a:t>
            </a:r>
            <a:endParaRPr lang="en-US" sz="1500" dirty="0"/>
          </a:p>
        </p:txBody>
      </p:sp>
      <p:sp>
        <p:nvSpPr>
          <p:cNvPr id="12" name="Stat 3 языка"/>
          <p:cNvSpPr/>
          <p:nvPr/>
        </p:nvSpPr>
        <p:spPr>
          <a:xfrm>
            <a:off x="4754880" y="2834640"/>
            <a:ext cx="38404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0" y="30175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3 языка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3703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русский, узбекский, английский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Готово: сервер, веб, Android-приложение, панель сотрудника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bg10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Эффект: меньше пробок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Сейчас</a:t>
            </a:r>
            <a:endParaRPr lang="en-US" sz="1600" dirty="0"/>
          </a:p>
        </p:txBody>
      </p:sp>
      <p:sp>
        <p:nvSpPr>
          <p:cNvPr id="4" name="Bar now"/>
          <p:cNvSpPr/>
          <p:nvPr/>
        </p:nvSpPr>
        <p:spPr>
          <a:xfrm>
            <a:off x="2011680" y="1371600"/>
            <a:ext cx="658368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240280" y="137160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ждём наряд ~40 минут (оценка)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 Yo‘lGuard</a:t>
            </a:r>
            <a:endParaRPr lang="en-US" sz="1600" dirty="0"/>
          </a:p>
        </p:txBody>
      </p:sp>
      <p:sp>
        <p:nvSpPr>
          <p:cNvPr id="7" name="Bar with"/>
          <p:cNvSpPr/>
          <p:nvPr/>
        </p:nvSpPr>
        <p:spPr>
          <a:xfrm>
            <a:off x="2011680" y="2103120"/>
            <a:ext cx="137160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011680" y="2103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минуты (цель)</a:t>
            </a:r>
            <a:endParaRPr lang="en-US" sz="1300" dirty="0"/>
          </a:p>
        </p:txBody>
      </p:sp>
      <p:sp>
        <p:nvSpPr>
          <p:cNvPr id="9" name="Bar saved"/>
          <p:cNvSpPr/>
          <p:nvPr/>
        </p:nvSpPr>
        <p:spPr>
          <a:xfrm>
            <a:off x="3474720" y="2103120"/>
            <a:ext cx="512064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03320" y="2103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полоса уже свободна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27432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Время от ДТП до освобождения полосы</a:t>
            </a:r>
            <a:endParaRPr lang="en-US" sz="1200" dirty="0"/>
          </a:p>
        </p:txBody>
      </p:sp>
      <p:sp>
        <p:nvSpPr>
          <p:cNvPr id="12" name="Metric card"/>
          <p:cNvSpPr/>
          <p:nvPr/>
        </p:nvSpPr>
        <p:spPr>
          <a:xfrm>
            <a:off x="548640" y="3246120"/>
            <a:ext cx="393192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3832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МЕТРИКА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6576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Время до освобождения полосы. Поле cleared_lane_at пишем уже сейчас.</a:t>
            </a:r>
            <a:endParaRPr lang="en-US" sz="1400" dirty="0"/>
          </a:p>
        </p:txBody>
      </p:sp>
      <p:sp>
        <p:nvSpPr>
          <p:cNvPr id="15" name="City card"/>
          <p:cNvSpPr/>
          <p:nvPr/>
        </p:nvSpPr>
        <p:spPr>
          <a:xfrm>
            <a:off x="4663440" y="3246120"/>
            <a:ext cx="393192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92040" y="33832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ДЛЯ ГОРОДА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36576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Меньше пробок и повторных ДТП. Наряды едут туда, где нужны.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bg11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Пилот и масштаб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ПОЛЬЗОВАТЕЛИ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Водители, сотрудники ДПС, страховщики</a:t>
            </a:r>
            <a:endParaRPr lang="en-US" sz="1600" dirty="0"/>
          </a:p>
        </p:txBody>
      </p:sp>
      <p:sp>
        <p:nvSpPr>
          <p:cNvPr id="5" name="Stage Пилот"/>
          <p:cNvSpPr/>
          <p:nvPr/>
        </p:nvSpPr>
        <p:spPr>
          <a:xfrm>
            <a:off x="548640" y="2743200"/>
            <a:ext cx="256032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Пилот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832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ГАИ или страховая одного района. Измеряем время до освобождения полосы.</a:t>
            </a:r>
            <a:endParaRPr lang="en-US" sz="1400" dirty="0"/>
          </a:p>
        </p:txBody>
      </p:sp>
      <p:sp>
        <p:nvSpPr>
          <p:cNvPr id="8" name="Stage Город"/>
          <p:cNvSpPr/>
          <p:nvPr/>
        </p:nvSpPr>
        <p:spPr>
          <a:xfrm>
            <a:off x="3291840" y="2103120"/>
            <a:ext cx="2560320" cy="2377440"/>
          </a:xfrm>
          <a:prstGeom prst="roundRect">
            <a:avLst>
              <a:gd name="adj" fmla="val 3846"/>
            </a:avLst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7472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Город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743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Соседние районы и частные компании, регистрирующие ДТП.</a:t>
            </a:r>
            <a:endParaRPr lang="en-US" sz="1400" dirty="0"/>
          </a:p>
        </p:txBody>
      </p:sp>
      <p:sp>
        <p:nvSpPr>
          <p:cNvPr id="11" name="Stage Страна"/>
          <p:cNvSpPr/>
          <p:nvPr/>
        </p:nvSpPr>
        <p:spPr>
          <a:xfrm>
            <a:off x="6035040" y="1280160"/>
            <a:ext cx="2560320" cy="3200400"/>
          </a:xfrm>
          <a:prstGeom prst="roundRect">
            <a:avLst>
              <a:gd name="adj" fmla="val 3571"/>
            </a:avLst>
          </a:prstGeom>
          <a:solidFill>
            <a:schemeClr val="tx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Страна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9202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B2G-масштабирование по Узбекистану: полиция и частные компании.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bg12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Дальше</a:t>
            </a:r>
            <a:endParaRPr lang="en-US" sz="3600" dirty="0"/>
          </a:p>
        </p:txBody>
      </p:sp>
      <p:sp>
        <p:nvSpPr>
          <p:cNvPr id="3" name="Roadmap Сейчас"/>
          <p:cNvSpPr/>
          <p:nvPr/>
        </p:nvSpPr>
        <p:spPr>
          <a:xfrm>
            <a:off x="548640" y="1280160"/>
            <a:ext cx="2560320" cy="24231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Сейчас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Сервер, веб, APK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Панель сотрудника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Разбор Gemini по фото</a:t>
            </a:r>
            <a:endParaRPr lang="en-US" sz="1500" dirty="0"/>
          </a:p>
        </p:txBody>
      </p:sp>
      <p:sp>
        <p:nvSpPr>
          <p:cNvPr id="6" name="Roadmap Ближайшее"/>
          <p:cNvSpPr/>
          <p:nvPr/>
        </p:nvSpPr>
        <p:spPr>
          <a:xfrm>
            <a:off x="3291840" y="1280160"/>
            <a:ext cx="2560320" cy="24231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7472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Ближайшее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96596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Пилот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Распознавание номеров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Оценка ущерба</a:t>
            </a:r>
            <a:endParaRPr lang="en-US" sz="1500" dirty="0"/>
          </a:p>
        </p:txBody>
      </p:sp>
      <p:sp>
        <p:nvSpPr>
          <p:cNvPr id="9" name="Roadmap К запуску"/>
          <p:cNvSpPr/>
          <p:nvPr/>
        </p:nvSpPr>
        <p:spPr>
          <a:xfrm>
            <a:off x="6035040" y="1280160"/>
            <a:ext cx="2560320" cy="24231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К запуску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96596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PostgreSQL и миграции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Облачное хранилище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TLS и мониторинг</a:t>
            </a:r>
            <a:endParaRPr lang="en-US" sz="1500" dirty="0"/>
          </a:p>
        </p:txBody>
      </p:sp>
      <p:sp>
        <p:nvSpPr>
          <p:cNvPr id="12" name="Ask banner"/>
          <p:cNvSpPr/>
          <p:nvPr/>
        </p:nvSpPr>
        <p:spPr>
          <a:xfrm>
            <a:off x="548640" y="3886200"/>
            <a:ext cx="804672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886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Нужно от менторов: экспертиза ГАИ и страховых + грант на пилот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g13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822960" y="10972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Спасибо!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94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Yo‘lGuard AI — не ждём наряд, освобождаем дорогу.</a:t>
            </a:r>
            <a:endParaRPr lang="en-US" sz="2000" dirty="0"/>
          </a:p>
        </p:txBody>
      </p:sp>
      <p:sp>
        <p:nvSpPr>
          <p:cNvPr id="4" name="Contacts card"/>
          <p:cNvSpPr/>
          <p:nvPr/>
        </p:nvSpPr>
        <p:spPr>
          <a:xfrm>
            <a:off x="822960" y="3108960"/>
            <a:ext cx="749808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324612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Контакты: [телефон / Telegram]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630168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Демо и код: github.com/shokhruh123/yolguard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YolGuard Light">
  <a:themeElements>
    <a:clrScheme name="YolGuard Light">
      <a:dk1>
        <a:srgbClr val="111827"/>
      </a:dk1>
      <a:lt1>
        <a:srgbClr val="FFFFFF"/>
      </a:lt1>
      <a:dk2>
        <a:srgbClr val="374151"/>
      </a:dk2>
      <a:lt2>
        <a:srgbClr val="F3F4F6"/>
      </a:lt2>
      <a:accent1>
        <a:srgbClr val="F5A524"/>
      </a:accent1>
      <a:accent2>
        <a:srgbClr val="6B7280"/>
      </a:accent2>
      <a:accent3>
        <a:srgbClr val="374151"/>
      </a:accent3>
      <a:accent4>
        <a:srgbClr val="D1D5DB"/>
      </a:accent4>
      <a:accent5>
        <a:srgbClr val="FDE7BF"/>
      </a:accent5>
      <a:accent6>
        <a:srgbClr val="9CA3AF"/>
      </a:accent6>
      <a:hlink>
        <a:srgbClr val="111827"/>
      </a:hlink>
      <a:folHlink>
        <a:srgbClr val="6B7280"/>
      </a:folHlink>
    </a:clrScheme>
    <a:fontScheme name="YolGuard Ligh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Yo‘lGuard AI</dc:title>
  <dc:subject>PptxGenJS Presentation</dc:subject>
  <dc:creator>PptxGenJS</dc:creator>
  <cp:lastModifiedBy>PptxGenJS</cp:lastModifiedBy>
  <cp:revision>1</cp:revision>
  <dcterms:created xsi:type="dcterms:W3CDTF">2026-10-13T07:22:28Z</dcterms:created>
  <dcterms:modified xsi:type="dcterms:W3CDTF">2026-10-13T07:22:28Z</dcterms:modified>
</cp:coreProperties>
</file>